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1FFF33-7AFB-4FE2-B8F3-C37409D10D62}" v="6" dt="2026-06-05T10:33:15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9396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C7293">
              <a:alpha val="32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10424160" y="3108960"/>
            <a:ext cx="3840480" cy="384048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Recommender Systems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52101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i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Topics in Data Science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85800" y="3474720"/>
            <a:ext cx="29260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1  -  Interaction models: AR, CF, MFPQ, BPR, NCF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2  -  RAG: LLM summarisation + FAISS retrieval + explanations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by: André Vieira (up202107341),  Ricardo Ribeiro (up202104806), Miguel Silva (up202105204)</a:t>
            </a: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645920"/>
            <a:ext cx="5486400" cy="5486400"/>
          </a:xfrm>
          <a:prstGeom prst="ellipse">
            <a:avLst/>
          </a:prstGeom>
          <a:solidFill>
            <a:srgbClr val="065A82">
              <a:alpha val="34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 1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685800" y="3703320"/>
            <a:ext cx="30175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Interaction-based recommenders, tuned and evaluated under CRISP-DM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BUSINESS UNDERSTANDING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Problem, Success Criteria &amp; ML Framing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streaming platform wants to increase engagement by recommending films each user will enjoy.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personalisation, users face choice overload across thousands of titles -&gt; fatigue and lower watch rates.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9387" y="420624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a non-personalised popularity baseline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ranking with Precision@3 &amp; Recall@3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viable under operational limits (sparsity, cold-start)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ML framings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524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537960" y="20116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: implicit feedback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user interact at all? Any rating is positive. Rank items by predicted interaction.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37947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524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6537960" y="39776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Non-binary : explicit feedback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relevant only if rating &gt;= 3.5. Closer to true preference but stricter and sparser.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UNDERSTANDING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MovieLens ml-latest-small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100,836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3383280" y="15361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217920" y="15361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9,742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4630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9052560" y="15361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300" dirty="0"/>
          </a:p>
        </p:txBody>
      </p:sp>
      <p:pic>
        <p:nvPicPr>
          <p:cNvPr id="16" name="Image 0" descr="c_bas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0"/>
            <a:ext cx="5852160" cy="32004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67512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distribution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675120" y="347472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size follows a power law.  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power-users rate thousands; most rate few. Median 70 vs mean 165.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
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 sparsity makes similarity noisy -&gt; filter entities with &lt; 20 ratings.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tail makes even the popularity baseline non-trivial.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TRANSFORMATION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Preparing the Data for Each Model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190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sparse entities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users &amp; movies with &lt; 20 ratings to stabilise similarity.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17190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user subsample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45152" y="2377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all five families fast before full data.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15" name="Shape 13"/>
          <p:cNvSpPr/>
          <p:nvPr/>
        </p:nvSpPr>
        <p:spPr>
          <a:xfrm>
            <a:off x="8458200" y="1691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84582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98280" y="17190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485632" y="2377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per user by timestamp. No leakage.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0965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matrix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4672" y="4754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x movie rating pivot. It feeds CF and MFPQ.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8912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4617720" y="4069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461772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40965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conversion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45152" y="4754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&gt;= 4 -&gt; positive; keep positives for AR, BPR, NCF.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2960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8458200" y="4069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84582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98280" y="40965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sampling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485632" y="4754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unobserved movies (1:1) from training items for BPR/NCF.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Models &amp; How We Tuned Them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280160" cy="786384"/>
          </a:xfrm>
          <a:prstGeom prst="roundRect">
            <a:avLst>
              <a:gd name="adj" fmla="val 930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463040"/>
            <a:ext cx="6949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-&gt; movies that co-occur in baskets. Interpretable, non-personalised.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098280" y="1581912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9098280" y="15819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/ confidence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1280160" cy="786384"/>
          </a:xfrm>
          <a:prstGeom prst="roundRect">
            <a:avLst>
              <a:gd name="adj" fmla="val 9302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2359152"/>
            <a:ext cx="6949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-&gt; recommend what similar users liked (cosine).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98280" y="2478024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9098280" y="247802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 = 20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1280160" cy="786384"/>
          </a:xfrm>
          <a:prstGeom prst="roundRect">
            <a:avLst>
              <a:gd name="adj" fmla="val 930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548640" y="3255264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MFPQ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3255264"/>
            <a:ext cx="6949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Factorisation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latent factors u.v + biases, L2 reg.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98280" y="3374136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9098280" y="337413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factors=10, λ=0.1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51376"/>
            <a:ext cx="1280160" cy="786384"/>
          </a:xfrm>
          <a:prstGeom prst="roundRect">
            <a:avLst>
              <a:gd name="adj" fmla="val 930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548640" y="4151376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011680" y="4151376"/>
            <a:ext cx="6949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Personalised Ranking -&gt; pairwise ranking loss on implicit data.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98280" y="4270248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9098280" y="427024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factors=10, λ=0.01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047488"/>
            <a:ext cx="1280160" cy="786384"/>
          </a:xfrm>
          <a:prstGeom prst="roundRect">
            <a:avLst>
              <a:gd name="adj" fmla="val 9302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548640" y="5047488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NCF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011680" y="5047488"/>
            <a:ext cx="6949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CF -&gt; embeddings through an MLP for non-linear patterns.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098280" y="5166360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9098280" y="51663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lr=1e-3, reg=1e-4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4a. PHASE A : SUBSAMPLE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Tuning &amp; Which Model Wins</a:t>
            </a:r>
            <a:endParaRPr lang="en-US" sz="2900" dirty="0"/>
          </a:p>
        </p:txBody>
      </p:sp>
      <p:pic>
        <p:nvPicPr>
          <p:cNvPr id="4" name="Image 0" descr="c_cf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3931920" cy="2377440"/>
          </a:xfrm>
          <a:prstGeom prst="rect">
            <a:avLst/>
          </a:prstGeom>
        </p:spPr>
      </p:pic>
      <p:pic>
        <p:nvPicPr>
          <p:cNvPr id="5" name="Image 1" descr="c_phaseA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417320"/>
            <a:ext cx="7132320" cy="3520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38862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peaks at K=20.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neighbours = noise; too many = over-smoothing.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507492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4"/>
          <p:cNvSpPr/>
          <p:nvPr/>
        </p:nvSpPr>
        <p:spPr>
          <a:xfrm>
            <a:off x="822960" y="507492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wins (val P@3 = 0.156).  Held-out TEST (once):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 = 0.1175   R@3 = 0.0293 (binary)   -   0.1083 / 0.0365 (non-binary)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4b. PHASE B : FULL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Scaling, Sanity Checks &amp; PR Curves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035040" y="1463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vs 3 arbitrary configs (full data)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35040" y="1920240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626364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CF, K=2 neighbours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0" y="1920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 0.0874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35040" y="2560320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6263640" y="25603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MFPQ, 5 factors, λ=0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 0.0104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3200400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13" name="Text 10"/>
          <p:cNvSpPr/>
          <p:nvPr/>
        </p:nvSpPr>
        <p:spPr>
          <a:xfrm>
            <a:off x="6263640" y="3200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MFPQ, 150 factors, λ=0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0" y="3200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 0.0104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397764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curves: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and AR dominate the upper-left -&gt; higher precision at comparable recall, robust to K.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P@3 falls for all methods on full data (sparser per-user target), but the tuned config still beats arbitrary ones.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Precision–Recall computed across K = 1…20 on the test set.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" y="52578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731520" y="5349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1 verdict: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is the best interaction model; sparsity caps NCF; honest validation/test split throughout.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20" name="Imagem 19" descr="c_pr.png">
            <a:extLst>
              <a:ext uri="{FF2B5EF4-FFF2-40B4-BE49-F238E27FC236}">
                <a16:creationId xmlns:a16="http://schemas.microsoft.com/office/drawing/2014/main" id="{9D691014-A106-0B84-CF23-C129042B2A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00" b="321"/>
          <a:stretch>
            <a:fillRect/>
          </a:stretch>
        </p:blipFill>
        <p:spPr>
          <a:xfrm>
            <a:off x="630802" y="1544942"/>
            <a:ext cx="5220615" cy="32566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645920"/>
            <a:ext cx="5486400" cy="5486400"/>
          </a:xfrm>
          <a:prstGeom prst="ellipse">
            <a:avLst/>
          </a:prstGeom>
          <a:solidFill>
            <a:srgbClr val="6D2E8C">
              <a:alpha val="34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 2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685800" y="3703320"/>
            <a:ext cx="30175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Retrieval-Augmented Generation: can semantic search compete with interactions?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LEG 2 :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Retrieval-Augmented Generation?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1 models learn only from </a:t>
            </a: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watched what</a:t>
            </a: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cannot reason about </a:t>
            </a: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film is about.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822960" y="31498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signal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367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titles, genres and tags - semantic meaning, not co-occurrence.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228600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4572000" y="25603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572000" y="31498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friendly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33367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movies with no ratings can still be retrieved via their metadata.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8321040" y="25603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8321040" y="31498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332071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comes with a natural-language explanation.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1A223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pipeline:  </a:t>
            </a: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summarises a user's session into a preference query  -&gt;  FAISS retrieves semantically similar movies  -&gt;  LLM explains each pick.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LEG 2 :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RAG Pipeline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session
</a:t>
            </a:r>
            <a:r>
              <a:rPr lang="en-US" sz="140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movies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624328" y="2212848"/>
            <a:ext cx="283464" cy="411480"/>
          </a:xfrm>
          <a:prstGeom prst="chevron">
            <a:avLst/>
          </a:prstGeom>
          <a:solidFill>
            <a:srgbClr val="5A647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2907792" y="17373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907792" y="1737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(IAEdu)
</a:t>
            </a:r>
            <a:r>
              <a:rPr lang="en-US" sz="140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taste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83480" y="2212848"/>
            <a:ext cx="283464" cy="411480"/>
          </a:xfrm>
          <a:prstGeom prst="chevron">
            <a:avLst/>
          </a:prstGeom>
          <a:solidFill>
            <a:srgbClr val="5A647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5266944" y="17373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5266944" y="1737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DB
</a:t>
            </a:r>
            <a:r>
              <a:rPr lang="en-US" sz="140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342632" y="2212848"/>
            <a:ext cx="283464" cy="411480"/>
          </a:xfrm>
          <a:prstGeom prst="chevron">
            <a:avLst/>
          </a:prstGeom>
          <a:solidFill>
            <a:srgbClr val="5A647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7626096" y="17373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7626096" y="1737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
+ Re-ranker
</a:t>
            </a:r>
            <a:r>
              <a:rPr lang="en-US" sz="140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candidates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701784" y="2212848"/>
            <a:ext cx="283464" cy="411480"/>
          </a:xfrm>
          <a:prstGeom prst="chevron">
            <a:avLst/>
          </a:prstGeom>
          <a:solidFill>
            <a:srgbClr val="5A647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9985248" y="17373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9985248" y="17373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 +
Explanations
</a:t>
            </a:r>
            <a:r>
              <a:rPr lang="en-US" sz="140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+ grounded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1005840" y="3959352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text: 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genres + aggregated tags -&gt; one embedding per film (all-MiniLM-L6-v2)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4608576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1005840" y="4507992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via FAISS: 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L2-normalised vectors, inner-product index for fast top-K search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5157216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1005840" y="5056632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strategies: 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3 : detailed / keywords / simple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705856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1005840" y="5605272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Re-ranker: 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ms-marco re-scores the retrieved candidates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LEG 2 : SUMMARISATION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Session Summary &amp; Prompt Comparison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highly-rated movies are sent to IAEdu, which returns a 2-3 sentence preference profile used as the retrieval query.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sessions are capped at the top-rated films to respect the context window.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4F7FB"/>
          </a:solidFill>
          <a:ln w="15240">
            <a:solidFill>
              <a:srgbClr val="6D2E8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user enjoys gritty, action-packed films from the late 20th century, often set in dystopian or isolated environments -&gt; sci-fi, post-apocalyptic and horror with a raw edge."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prompt strategies tested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 descriptive paragraph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29400" y="2514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 (bin): 0.0111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3127248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14" name="Text 12"/>
          <p:cNvSpPr/>
          <p:nvPr/>
        </p:nvSpPr>
        <p:spPr>
          <a:xfrm>
            <a:off x="6629400" y="3264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: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 taste keywords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29400" y="37216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 (bin): 0.0111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4334256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629400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: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one-sentence summary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29400" y="49286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 (bin): 0.0111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5623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tied (P@3 = 0.0111) -&gt; the bottleneck is retrieval, not prompt wording.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LEG 2 :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vs Leg 1, and the Re-ranker Effect</a:t>
            </a:r>
            <a:endParaRPr lang="en-US" sz="2900" dirty="0"/>
          </a:p>
        </p:txBody>
      </p:sp>
      <p:pic>
        <p:nvPicPr>
          <p:cNvPr id="4" name="Image 0" descr="r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355080" cy="3291840"/>
          </a:xfrm>
          <a:prstGeom prst="rect">
            <a:avLst/>
          </a:prstGeom>
        </p:spPr>
      </p:pic>
      <p:pic>
        <p:nvPicPr>
          <p:cNvPr id="5" name="Image 1" descr="r_re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463040"/>
            <a:ext cx="4663440" cy="32918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98348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3"/>
          <p:cNvSpPr/>
          <p:nvPr/>
        </p:nvSpPr>
        <p:spPr>
          <a:xfrm>
            <a:off x="758792" y="4983480"/>
            <a:ext cx="1082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RAG trails CF by ~18x  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semantic similarity alone is noisier than interaction data and tags are sparse.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re-ranker quadruples precision (0.0067 -&gt; 0.0267)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rescues the non-binary case from zero. But the real win comes next...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LEG 2 : HYBRID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CF + RAG: Best of Both Worlds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C8860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generates candidates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 CF (cosine) scores all unseen movies, keeps a pool of 50.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770632"/>
            <a:ext cx="457200" cy="457200"/>
          </a:xfrm>
          <a:prstGeom prst="ellipse">
            <a:avLst/>
          </a:prstGeom>
          <a:solidFill>
            <a:srgbClr val="C8860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59436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re-scores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cross-encoder re-scores them with the user's LLM summary.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666744"/>
            <a:ext cx="457200" cy="457200"/>
          </a:xfrm>
          <a:prstGeom prst="ellipse">
            <a:avLst/>
          </a:prstGeom>
          <a:solidFill>
            <a:srgbClr val="C8860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94360" y="3666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62102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the signals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scores min-max normalised, then combined.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1A223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hybrid(u,i) = a . CF_norm + (1-a) . RAG_norm
</a:t>
            </a:r>
            <a:r>
              <a:rPr lang="en-US" sz="140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0.7  -&gt;  70% personalisation, 30% semantics</a:t>
            </a:r>
            <a:endParaRPr lang="en-US" sz="1600" dirty="0"/>
          </a:p>
        </p:txBody>
      </p:sp>
      <p:pic>
        <p:nvPicPr>
          <p:cNvPr id="16" name="Image 0" descr="r_hyb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5394960" cy="28803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309360" y="452628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6E0"/>
          </a:solidFill>
          <a:ln w="17780">
            <a:solidFill>
              <a:srgbClr val="C8860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6537960" y="452628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9A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beats standalone CF. 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 0.1267 vs 0.1175 (binary) and 0.1224 vs 0.1083 (non-binary). Neither signal alone reaches this.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LEG 2 : EXPLANATIONS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Automatic Explanations &amp; Human Evaluation</a:t>
            </a:r>
            <a:endParaRPr lang="en-US" sz="2900" dirty="0"/>
          </a:p>
        </p:txBody>
      </p:sp>
      <p:pic>
        <p:nvPicPr>
          <p:cNvPr id="4" name="Image 0" descr="r_lik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39496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126480" y="19659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explains each recommendation, grounded in the user's session. A sample of 30 explanations was rated 1-5 on four criteria.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26480" y="30632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is excellent (4.70)  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explanations read naturally;</a:t>
            </a:r>
            <a:endParaRPr lang="en-US" sz="1600" dirty="0"/>
          </a:p>
          <a:p>
            <a:pPr>
              <a:lnSpc>
                <a:spcPct val="125000"/>
              </a:lnSpc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&amp; fidelity solid (~3.6); </a:t>
            </a:r>
          </a:p>
          <a:p>
            <a:pPr>
              <a:lnSpc>
                <a:spcPct val="125000"/>
              </a:lnSpc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lowest (3.43) </a:t>
            </a: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sometimes too generic.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26480" y="452628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1A223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Text 6"/>
          <p:cNvSpPr/>
          <p:nvPr/>
        </p:nvSpPr>
        <p:spPr>
          <a:xfrm>
            <a:off x="6355080" y="45262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win of RAG.  </a:t>
            </a: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lower ranking accuracy, the explanations add interpretability that interaction models cannot offer.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1C7293">
              <a:alpha val="26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27432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CF+RAG wins overall
</a:t>
            </a:r>
            <a:r>
              <a:rPr lang="en-US" sz="1400" dirty="0">
                <a:solidFill>
                  <a:srgbClr val="B9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CF (α=0.7) with RAG re-ranking beats standalone CF on Precision@3 -&gt; 0.1267 vs 0.1175 (binary), 0.1224 vs 0.1083 (non-binary).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548640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51176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is the strongest single model
</a:t>
            </a:r>
            <a:r>
              <a:rPr lang="en-US" sz="1400" dirty="0">
                <a:solidFill>
                  <a:srgbClr val="B9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own, CF gives the best Leg 1 Precision@3 (0.118 on test); pure RAG trails it by ~18x -&gt; interactions carry more signal than metadata alone.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54787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54864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502152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&amp; tuning shape Leg 1
</a:t>
            </a:r>
            <a:r>
              <a:rPr lang="en-US" sz="1400" dirty="0">
                <a:solidFill>
                  <a:srgbClr val="B9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 sparsity caps AR and starves NCF; CF@K=20, MFPQ@λ=0.1 and BPR@λ=0.01 beat all arbitrary configurations.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49884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548640" y="4498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453128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adds what CF lacks
</a:t>
            </a:r>
            <a:r>
              <a:rPr lang="en-US" sz="1400" dirty="0">
                <a:solidFill>
                  <a:srgbClr val="B9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coverage and explanations -&gt; the cross-encoder re-ranker quadrupled RAG precision; prompt choice barely mattered.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544982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548640" y="5449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40410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are interpretable
</a:t>
            </a:r>
            <a:r>
              <a:rPr lang="en-US" sz="1400" dirty="0">
                <a:solidFill>
                  <a:srgbClr val="B9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explanations score 4.7/5 on clarity (3.86 overall), giving the transparency interaction models cannot provide.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1479</Words>
  <Application>Microsoft Office PowerPoint</Application>
  <PresentationFormat>Ecrã Panorâmico</PresentationFormat>
  <Paragraphs>196</Paragraphs>
  <Slides>16</Slides>
  <Notes>16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Recommender Systems — Leg 1 + Leg 2</dc:title>
  <dc:subject>PptxGenJS Presentation</dc:subject>
  <dc:creator>Grupo TACD</dc:creator>
  <cp:lastModifiedBy>André Vieira</cp:lastModifiedBy>
  <cp:revision>18</cp:revision>
  <dcterms:created xsi:type="dcterms:W3CDTF">2026-06-03T14:15:47Z</dcterms:created>
  <dcterms:modified xsi:type="dcterms:W3CDTF">2026-06-05T11:18:23Z</dcterms:modified>
</cp:coreProperties>
</file>